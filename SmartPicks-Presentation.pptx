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Calibri"/>
              </a:defRPr>
            </a:pPr>
            <a:r>
              <a:t>SmartPicks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246120"/>
            <a:ext cx="2011680" cy="635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CCCCC"/>
                </a:solidFill>
                <a:latin typeface="Calibri"/>
              </a:defRPr>
            </a:pPr>
            <a:r>
              <a:t>A Serverless, Event-Driven Product Recommendation System on AWS</a:t>
            </a:r>
          </a:p>
          <a:p>
            <a:r>
              <a:t>Built with Lambda, DynamoDB, API Gateway, and Terraform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99999"/>
                </a:solidFill>
                <a:latin typeface="Calibri"/>
              </a:defRPr>
            </a:pPr>
            <a:r>
              <a:t>AWS Academy Learner Lab Project   |   [Your Name]   | 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Problem &amp;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508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E-commerce platforms need personalized recommendations to drive engagement and conversion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Goal: build a low-latency, low-cost, fully serverless recommendation pipeline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Constraint: deployed on an AWS Academy Learner Lab account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Limited lab budget, no custom IAM role/policy creation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Design targets: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Single-digit-millisecond read latency for recommendations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Zero idle infrastructure cost — pay only for what's used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Fully reproducible via Infrastructure as Code (Terraform)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Architecture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508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7043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900"/>
                </a:solidFill>
                <a:latin typeface="Calibri"/>
              </a:defRPr>
            </a:pPr>
            <a:r>
              <a:t>REQUEST-TIME PATH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463040"/>
            <a:ext cx="3200400" cy="457200"/>
          </a:xfrm>
          <a:prstGeom prst="roundRect">
            <a:avLst/>
          </a:prstGeom>
          <a:solidFill>
            <a:srgbClr val="4A5A6A"/>
          </a:solidFill>
          <a:ln>
            <a:solidFill>
              <a:srgbClr val="4A5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Client (curl / browser)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2148840"/>
            <a:ext cx="4572000" cy="594360"/>
          </a:xfrm>
          <a:prstGeom prst="roundRect">
            <a:avLst/>
          </a:prstGeom>
          <a:solidFill>
            <a:srgbClr val="232F3E"/>
          </a:solidFill>
          <a:ln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API Gateway (HTTP API)</a:t>
            </a: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+ Lambda Authorizer (x-api-key)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17520"/>
            <a:ext cx="2834640" cy="548640"/>
          </a:xfrm>
          <a:prstGeom prst="roundRect">
            <a:avLst/>
          </a:prstGeom>
          <a:solidFill>
            <a:srgbClr val="FF9900"/>
          </a:solidFill>
          <a:ln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232F3E"/>
                </a:solidFill>
                <a:latin typeface="Calibri"/>
              </a:defRPr>
            </a:pPr>
            <a:r>
              <a:t>Ingest Lambda</a:t>
            </a:r>
          </a:p>
          <a:p>
            <a:pPr algn="ctr">
              <a:defRPr sz="1100" b="0">
                <a:solidFill>
                  <a:srgbClr val="232F3E"/>
                </a:solidFill>
                <a:latin typeface="Calibri"/>
              </a:defRPr>
            </a:pPr>
            <a:r>
              <a:t>POST /events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3017520"/>
            <a:ext cx="2834640" cy="548640"/>
          </a:xfrm>
          <a:prstGeom prst="roundRect">
            <a:avLst/>
          </a:prstGeom>
          <a:solidFill>
            <a:srgbClr val="FF9900"/>
          </a:solidFill>
          <a:ln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232F3E"/>
                </a:solidFill>
                <a:latin typeface="Calibri"/>
              </a:defRPr>
            </a:pPr>
            <a:r>
              <a:t>Recommend Lambda</a:t>
            </a:r>
          </a:p>
          <a:p>
            <a:pPr algn="ctr">
              <a:defRPr sz="1100" b="0">
                <a:solidFill>
                  <a:srgbClr val="232F3E"/>
                </a:solidFill>
                <a:latin typeface="Calibri"/>
              </a:defRPr>
            </a:pPr>
            <a:r>
              <a:t>GET /recommendations/{userId}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86200"/>
            <a:ext cx="2011680" cy="548640"/>
          </a:xfrm>
          <a:prstGeom prst="roundRect">
            <a:avLst/>
          </a:prstGeom>
          <a:solidFill>
            <a:srgbClr val="1D8754"/>
          </a:solidFill>
          <a:ln>
            <a:solidFill>
              <a:srgbClr val="1D87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DynamoDB</a:t>
            </a: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UserEvents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3886200"/>
            <a:ext cx="1920240" cy="548640"/>
          </a:xfrm>
          <a:prstGeom prst="roundRect">
            <a:avLst/>
          </a:prstGeom>
          <a:solidFill>
            <a:srgbClr val="1D8754"/>
          </a:solidFill>
          <a:ln>
            <a:solidFill>
              <a:srgbClr val="1D87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S3</a:t>
            </a: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EventArchive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3886200"/>
            <a:ext cx="2834640" cy="548640"/>
          </a:xfrm>
          <a:prstGeom prst="roundRect">
            <a:avLst/>
          </a:prstGeom>
          <a:solidFill>
            <a:srgbClr val="1D8754"/>
          </a:solidFill>
          <a:ln>
            <a:solidFill>
              <a:srgbClr val="1D87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DynamoDB</a:t>
            </a: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RecommendationCache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80760" y="1920240"/>
            <a:ext cx="0" cy="228600"/>
          </a:xfrm>
          <a:prstGeom prst="line">
            <a:avLst/>
          </a:prstGeom>
          <a:ln w="19050">
            <a:solidFill>
              <a:srgbClr val="4A5A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468880" y="2743200"/>
            <a:ext cx="2560320" cy="274320"/>
          </a:xfrm>
          <a:prstGeom prst="line">
            <a:avLst/>
          </a:prstGeom>
          <a:ln w="19050">
            <a:solidFill>
              <a:srgbClr val="4A5A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132320" y="2743200"/>
            <a:ext cx="2560320" cy="274320"/>
          </a:xfrm>
          <a:prstGeom prst="line">
            <a:avLst/>
          </a:prstGeom>
          <a:ln w="19050">
            <a:solidFill>
              <a:srgbClr val="4A5A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554480" y="3566160"/>
            <a:ext cx="91440" cy="320040"/>
          </a:xfrm>
          <a:prstGeom prst="line">
            <a:avLst/>
          </a:prstGeom>
          <a:ln w="19050">
            <a:solidFill>
              <a:srgbClr val="4A5A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17520" y="3566160"/>
            <a:ext cx="640080" cy="320040"/>
          </a:xfrm>
          <a:prstGeom prst="line">
            <a:avLst/>
          </a:prstGeom>
          <a:ln w="19050">
            <a:solidFill>
              <a:srgbClr val="4A5A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875520" y="3566160"/>
            <a:ext cx="0" cy="320040"/>
          </a:xfrm>
          <a:prstGeom prst="line">
            <a:avLst/>
          </a:prstGeom>
          <a:ln w="19050">
            <a:solidFill>
              <a:srgbClr val="4A5A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48640" y="4617720"/>
            <a:ext cx="11064240" cy="1905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709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900"/>
                </a:solidFill>
                <a:latin typeface="Calibri"/>
              </a:defRPr>
            </a:pPr>
            <a:r>
              <a:t>NIGHTLY BATCH PATH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5029200"/>
            <a:ext cx="2468880" cy="457200"/>
          </a:xfrm>
          <a:prstGeom prst="roundRect">
            <a:avLst/>
          </a:prstGeom>
          <a:solidFill>
            <a:srgbClr val="4A5A6A"/>
          </a:solidFill>
          <a:ln>
            <a:solidFill>
              <a:srgbClr val="4A5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EventBridge Scheduler</a:t>
            </a: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cron 03:00 UTC daily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5623560"/>
            <a:ext cx="3200400" cy="548640"/>
          </a:xfrm>
          <a:prstGeom prst="roundRect">
            <a:avLst/>
          </a:prstGeom>
          <a:solidFill>
            <a:srgbClr val="FF9900"/>
          </a:solidFill>
          <a:ln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232F3E"/>
                </a:solidFill>
                <a:latin typeface="Calibri"/>
              </a:defRPr>
            </a:pPr>
            <a:r>
              <a:t>Recompute Lambda</a:t>
            </a:r>
          </a:p>
          <a:p>
            <a:pPr algn="ctr">
              <a:defRPr sz="1100" b="0">
                <a:solidFill>
                  <a:srgbClr val="232F3E"/>
                </a:solidFill>
                <a:latin typeface="Calibri"/>
              </a:defRPr>
            </a:pPr>
            <a:r>
              <a:t>co-purchase + content-based scoring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6263640"/>
            <a:ext cx="2468880" cy="457200"/>
          </a:xfrm>
          <a:prstGeom prst="roundRect">
            <a:avLst/>
          </a:prstGeom>
          <a:solidFill>
            <a:srgbClr val="1D8754"/>
          </a:solidFill>
          <a:ln>
            <a:solidFill>
              <a:srgbClr val="1D87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DynamoDB</a:t>
            </a:r>
          </a:p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ProductCatalog (reads)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80760" y="5486400"/>
            <a:ext cx="0" cy="137160"/>
          </a:xfrm>
          <a:prstGeom prst="line">
            <a:avLst/>
          </a:prstGeom>
          <a:ln w="19050">
            <a:solidFill>
              <a:srgbClr val="4A5A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1600200" y="4434840"/>
            <a:ext cx="2880360" cy="1463040"/>
          </a:xfrm>
          <a:prstGeom prst="line">
            <a:avLst/>
          </a:prstGeom>
          <a:ln w="19050">
            <a:solidFill>
              <a:srgbClr val="4A5A6A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2377440" y="5989320"/>
            <a:ext cx="2103120" cy="502920"/>
          </a:xfrm>
          <a:prstGeom prst="line">
            <a:avLst/>
          </a:prstGeom>
          <a:ln w="19050">
            <a:solidFill>
              <a:srgbClr val="4A5A6A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7680960" y="4434840"/>
            <a:ext cx="2194560" cy="1463040"/>
          </a:xfrm>
          <a:prstGeom prst="line">
            <a:avLst/>
          </a:prstGeom>
          <a:ln w="19050">
            <a:solidFill>
              <a:srgbClr val="4A5A6A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Flow — Three Stages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508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1. Ingest — POST /events records a view / purchase / add_to_cart event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Written to the UserEvents DynamoDB table for fast recent-event lookups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Archived as raw JSON to S3 (durable, long-term source of truth for reprocessing/audit)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2. Recompute — nightly EventBridge-triggered batch job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Builds a co-purchase matrix + content-based category affinity across all events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Writes ranked top-N results per user to the RecommendationCache table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3. Recommend — GET /recommendations/{userId}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Reads the precomputed cache — a single DynamoDB GetItem, no request-time computation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Keeps p99 read latency low and decoupled from the batch scoring job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Recommendation Algorithm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508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Hybrid scoring, computed in lambda/recompute/scoring.py: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Co-purchase signal — items frequently bought together with a user's purchases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Content-based signal — category-affinity boost toward similar products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Already-purchased items are excluded from a user's own recommendations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Results ranked and truncated to a top-N list per user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Cold-start handling — users with no purchase history get an empty list with a clear hint, not an error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Pure functions, no AWS calls — fully unit-testable in isolation (see Testing)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508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17320"/>
          <a:ext cx="10881359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611505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Service / Tool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611505"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Amazon API Gateway (HTTP API)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Compute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AWS Lambda × 4 (Python 3.12): ingest, recompute, recommend, authorizer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11505"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Storage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DynamoDB × 3 tables (on-demand) + S3 (versioned event archive)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Scheduling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Amazon EventBridge Scheduler (nightly cron)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11505"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Infrastructure as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Terraform (&gt;= 1.5.0), AWS + random + archive providers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CI/CD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GitHub Actions (test → plan → apply)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11505"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Testing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pytest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Infrastructure as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508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100% Terraform-managed — every resource defined under terraform/*.tf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AWS Academy Learner Lab constraint: no iam:CreateRole / CreatePolicy permission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All Lambdas + the scheduler reuse a single pre-provisioned LabRole, passed in as a variable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A production account would instead use per-function, least-privilege IAM roles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Modular layout: lambda.tf, dynamodb.tf, s3.tf, api_gateway.tf, eventbridge.tf, monitoring.tf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terraform.tfvars (account ID, API key) is gitignored; terraform.tfvars.example is committed for onboarding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CI/CD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508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GitHub Actions workflow (.github/workflows/deploy.yml) runs on every push and PR: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test — pytest against the pure scoring logic, no AWS calls needed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plan (on PRs) — terraform plan against the live Learner Lab account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deploy (on merge to main) — terraform apply -auto-approve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Known lab constraint: Academy credentials are temporary and rotate every lab session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GitHub Actions secrets must be refreshed manually before each CI run / demo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A production account would use long-lived IAM roles via OIDC federation instead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Security — Defense in Depth (Implemented)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508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Modeled on AWS's serverless defense-in-depth architecture, scoped to what a Learner Lab account allows</a:t>
            </a:r>
          </a:p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Entry-point auth — every route gated by a Lambda REQUEST authorizer validating a shared x-api-key header</a:t>
            </a:r>
          </a:p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Input validation — userId / productId constrained to ^[A-Za-z0-9_-]{1,64}$</a:t>
            </a:r>
          </a:p>
          <a:p>
            <a:pPr lvl="1">
              <a:spcAft>
                <a:spcPts val="12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‣  Rejects malformed, oversized, or path-traversal-shaped input before it reaches DynamoDB or S3 keys</a:t>
            </a:r>
          </a:p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Data protection:</a:t>
            </a:r>
          </a:p>
          <a:p>
            <a:pPr lvl="1">
              <a:spcAft>
                <a:spcPts val="12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‣  DynamoDB — point-in-time recovery + explicit encryption at rest on all 3 tables</a:t>
            </a:r>
          </a:p>
          <a:p>
            <a:pPr lvl="1">
              <a:spcAft>
                <a:spcPts val="1200"/>
              </a:spcAft>
              <a:defRPr sz="1500">
                <a:solidFill>
                  <a:srgbClr val="666666"/>
                </a:solidFill>
                <a:latin typeface="Calibri"/>
              </a:defRPr>
            </a:pPr>
            <a:r>
              <a:t>‣  S3 — SSE encryption, versioning, full public-access block, bucket policy denying non-TLS requests</a:t>
            </a:r>
          </a:p>
          <a:p>
            <a:pPr>
              <a:spcAft>
                <a:spcPts val="12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Continuous monitoring — CloudWatch alarms on Lambda errors &amp; API 5xx spikes, publishing to SNS email alerts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Security — Explicitly Out of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508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17320"/>
          <a:ext cx="1088136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406640"/>
              </a:tblGrid>
              <a:tr h="620485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Layer (from the AWS blog)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it was skipped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620485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AWS WAF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Cost / permission-boundary risk not justified at this project's 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Cognito user pools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real end users — a shared API key fits a machine-to-machine demo API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20485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VPC isolation / NAT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private resources to protect; NAT Gateway adds cost for no benefit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0485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Secrets Manager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Only secret is the API key, small enough for a Lambda env var; rotation needs IAM Academy blocks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20485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GuardDuty / CloudTrail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Academy's permission boundary blocks account-level security services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0490"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Shield Advanced / Bedrock agents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Paid enterprise features, out of scope for a lab-account project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508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tests/test_scoring.py — 5 unit tests against the pure recommendation logic: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Co-purchase signal recommends frequently-bought-together items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Content-based signal recommends same-category items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Already-purchased items are excluded from results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Non-purchase events (views, cart adds) are ignored for scoring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Top-N limit is respected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Runs automatically on every push and pull request via GitHub Actions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New security logic manually verified: authorizer against matching/mismatched/missing keys, ID regex against valid input, path traversal, oversized and empty strings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Cost &amp; AWS Academy Constraints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508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AWS Academy Learner Lab draws from a fixed lab budget — not billed to a personal card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Every resource is usage-based and near-zero at this project's traffic: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Lambda, API Gateway, DynamoDB on-demand, S3 — all within AWS's free-tier-scale usage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Only fixed recurring cost added: 5 CloudWatch alarms (~$0.10/alarm/month)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Comfortably within AWS's always-free 10-alarm allowance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No VPC/NAT Gateway, no KMS customer-managed keys, no WAF, no GuardDuty/CloudTrail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The pricier defense-in-depth layers were deliberately left out — see previous slide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Trade-offs &amp; Production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508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Why no SageMaker: Academy IAM policies blocked provisioning a SageMaker execution role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Recommendation scoring implemented as a Lambda instead of a SageMaker Processing job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LabRole is broad-permission by lab necessity, not by design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A production deployment would use per-function least-privilege IAM roles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Roadmap for a production version: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AWS WAF + rate limiting at the edge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Cognito user pools for real end-user identity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Custom least-privilege IAM roles per Lambda, KMS customer-managed keys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GuardDuty + CloudTrail for account-level threat detection and audit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Bedrock-based embedding similarity for semantic content matching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508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Record a purchase event: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curl -X POST https://&lt;api_endpoint&gt;/events \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  -H "Content-Type: application/json" -H "x-api-key: &lt;key&gt;" \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  -d '{"userId":"user6","productId":"p3","eventType":"purchase"}'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Fetch recommendations:</a:t>
            </a:r>
          </a:p>
          <a:p>
            <a:pPr lvl="1">
              <a:spcAft>
                <a:spcPts val="12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‣  curl https://&lt;api_endpoint&gt;/recommendations/user1 -H "x-api-key: &lt;key&gt;"</a:t>
            </a:r>
          </a:p>
          <a:p>
            <a:pPr>
              <a:spcAft>
                <a:spcPts val="12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A request without x-api-key now returns 401 Unauthorized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429000"/>
            <a:ext cx="2011680" cy="635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CCCCCC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