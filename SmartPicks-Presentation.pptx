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512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7432"/>
            <a:ext cx="12191695" cy="6858000"/>
          </a:xfrm>
          <a:prstGeom prst="rect">
            <a:avLst/>
          </a:prstGeom>
          <a:solidFill>
            <a:srgbClr val="232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10698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200" b="1">
                <a:solidFill>
                  <a:srgbClr val="FFFFFF"/>
                </a:solidFill>
                <a:latin typeface="Calibri"/>
              </a:defRPr>
            </a:pPr>
            <a:r>
              <a:t>SmartPicks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3246120"/>
            <a:ext cx="2011680" cy="63500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3474720"/>
            <a:ext cx="1069848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CCCCCC"/>
                </a:solidFill>
                <a:latin typeface="Calibri"/>
              </a:defRPr>
            </a:pPr>
            <a:r>
              <a:rPr dirty="0"/>
              <a:t>A Serverless, Event-Driven Product Recommendation System on AWS</a:t>
            </a:r>
          </a:p>
          <a:p>
            <a:r>
              <a:rPr dirty="0">
                <a:solidFill>
                  <a:schemeClr val="bg1"/>
                </a:solidFill>
              </a:rPr>
              <a:t>Built with Lambda, DynamoDB, API Gateway, and Terraform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035040"/>
            <a:ext cx="2019977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999999"/>
                </a:solidFill>
                <a:latin typeface="Calibri"/>
              </a:defRPr>
            </a:pPr>
            <a:r>
              <a:rPr lang="en-CA" dirty="0"/>
              <a:t>Made By:</a:t>
            </a:r>
            <a:r>
              <a:rPr dirty="0"/>
              <a:t>   </a:t>
            </a:r>
            <a:r>
              <a:rPr lang="en-CA" dirty="0"/>
              <a:t>Mahek Shah</a:t>
            </a:r>
            <a:r>
              <a:rPr dirty="0"/>
              <a:t>  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32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46304"/>
            <a:ext cx="10789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Calibri"/>
              </a:defRPr>
            </a:pPr>
            <a:r>
              <a:t>The Problem &amp; Goals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1280160" cy="50800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333333"/>
                </a:solidFill>
                <a:latin typeface="Calibri"/>
              </a:defRPr>
            </a:pPr>
            <a:r>
              <a:t>•  E-commerce platforms need personalized recommendations to drive engagement and conversion</a:t>
            </a:r>
          </a:p>
          <a:p>
            <a:pPr>
              <a:spcAft>
                <a:spcPts val="1200"/>
              </a:spcAft>
              <a:defRPr sz="1900">
                <a:solidFill>
                  <a:srgbClr val="333333"/>
                </a:solidFill>
                <a:latin typeface="Calibri"/>
              </a:defRPr>
            </a:pPr>
            <a:r>
              <a:t>•  Goal: build a low-latency, low-cost, fully serverless recommendation pipeline</a:t>
            </a:r>
          </a:p>
          <a:p>
            <a:pPr>
              <a:spcAft>
                <a:spcPts val="1200"/>
              </a:spcAft>
              <a:defRPr sz="1900">
                <a:solidFill>
                  <a:srgbClr val="333333"/>
                </a:solidFill>
                <a:latin typeface="Calibri"/>
              </a:defRPr>
            </a:pPr>
            <a:r>
              <a:t>•  Constraint: deployed on an AWS Academy Learner Lab account</a:t>
            </a:r>
          </a:p>
          <a:p>
            <a:pPr lvl="1">
              <a:spcAft>
                <a:spcPts val="12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‣  Limited lab budget, no custom IAM role/policy creation</a:t>
            </a:r>
          </a:p>
          <a:p>
            <a:pPr>
              <a:spcAft>
                <a:spcPts val="1200"/>
              </a:spcAft>
              <a:defRPr sz="1900">
                <a:solidFill>
                  <a:srgbClr val="333333"/>
                </a:solidFill>
                <a:latin typeface="Calibri"/>
              </a:defRPr>
            </a:pPr>
            <a:r>
              <a:t>•  Design targets:</a:t>
            </a:r>
          </a:p>
          <a:p>
            <a:pPr lvl="1">
              <a:spcAft>
                <a:spcPts val="12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‣  Single-digit-millisecond read latency for recommendations</a:t>
            </a:r>
          </a:p>
          <a:p>
            <a:pPr lvl="1">
              <a:spcAft>
                <a:spcPts val="12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‣  Zero idle infrastructure cost — pay only for what's used</a:t>
            </a:r>
          </a:p>
          <a:p>
            <a:pPr lvl="1">
              <a:spcAft>
                <a:spcPts val="12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‣  Fully reproducible via Infrastructure as Code (Terraform)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32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46304"/>
            <a:ext cx="10789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Calibri"/>
              </a:defRPr>
            </a:pPr>
            <a:r>
              <a:t>Architecture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1280160" cy="50800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17043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9900"/>
                </a:solidFill>
                <a:latin typeface="Calibri"/>
              </a:defRPr>
            </a:pPr>
            <a:r>
              <a:t>REQUEST-TIME PATH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80560" y="1463040"/>
            <a:ext cx="3200400" cy="457200"/>
          </a:xfrm>
          <a:prstGeom prst="roundRect">
            <a:avLst/>
          </a:prstGeom>
          <a:solidFill>
            <a:srgbClr val="4A5A6A"/>
          </a:solidFill>
          <a:ln>
            <a:solidFill>
              <a:srgbClr val="4A5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Client (curl / browser)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794760" y="2148840"/>
            <a:ext cx="4572000" cy="594360"/>
          </a:xfrm>
          <a:prstGeom prst="roundRect">
            <a:avLst/>
          </a:prstGeom>
          <a:solidFill>
            <a:srgbClr val="232F3E"/>
          </a:solidFill>
          <a:ln>
            <a:solidFill>
              <a:srgbClr val="232F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API Gateway (HTTP API)</a:t>
            </a:r>
          </a:p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+ Lambda Authorizer (x-api-key)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3017520"/>
            <a:ext cx="2834640" cy="548640"/>
          </a:xfrm>
          <a:prstGeom prst="roundRect">
            <a:avLst/>
          </a:prstGeom>
          <a:solidFill>
            <a:srgbClr val="FF9900"/>
          </a:solidFill>
          <a:ln>
            <a:solidFill>
              <a:srgbClr val="FF9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defRPr sz="1200" b="1">
                <a:solidFill>
                  <a:srgbClr val="232F3E"/>
                </a:solidFill>
                <a:latin typeface="Calibri"/>
              </a:defRPr>
            </a:pPr>
            <a:r>
              <a:t>Ingest Lambda</a:t>
            </a:r>
          </a:p>
          <a:p>
            <a:pPr algn="ctr">
              <a:defRPr sz="1100" b="0">
                <a:solidFill>
                  <a:srgbClr val="232F3E"/>
                </a:solidFill>
                <a:latin typeface="Calibri"/>
              </a:defRPr>
            </a:pPr>
            <a:r>
              <a:t>POST /events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503920" y="3017520"/>
            <a:ext cx="2834640" cy="548640"/>
          </a:xfrm>
          <a:prstGeom prst="roundRect">
            <a:avLst/>
          </a:prstGeom>
          <a:solidFill>
            <a:srgbClr val="FF9900"/>
          </a:solidFill>
          <a:ln>
            <a:solidFill>
              <a:srgbClr val="FF9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defRPr sz="1200" b="1">
                <a:solidFill>
                  <a:srgbClr val="232F3E"/>
                </a:solidFill>
                <a:latin typeface="Calibri"/>
              </a:defRPr>
            </a:pPr>
            <a:r>
              <a:t>Recommend Lambda</a:t>
            </a:r>
          </a:p>
          <a:p>
            <a:pPr algn="ctr">
              <a:defRPr sz="1100" b="0">
                <a:solidFill>
                  <a:srgbClr val="232F3E"/>
                </a:solidFill>
                <a:latin typeface="Calibri"/>
              </a:defRPr>
            </a:pPr>
            <a:r>
              <a:t>GET /recommendations/{userId}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886200"/>
            <a:ext cx="2011680" cy="548640"/>
          </a:xfrm>
          <a:prstGeom prst="roundRect">
            <a:avLst/>
          </a:prstGeom>
          <a:solidFill>
            <a:srgbClr val="1D8754"/>
          </a:solidFill>
          <a:ln>
            <a:solidFill>
              <a:srgbClr val="1D87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DynamoDB</a:t>
            </a:r>
          </a:p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UserEvents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88920" y="3886200"/>
            <a:ext cx="1920240" cy="548640"/>
          </a:xfrm>
          <a:prstGeom prst="roundRect">
            <a:avLst/>
          </a:prstGeom>
          <a:solidFill>
            <a:srgbClr val="1D8754"/>
          </a:solidFill>
          <a:ln>
            <a:solidFill>
              <a:srgbClr val="1D87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S3</a:t>
            </a:r>
          </a:p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EventArchive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03920" y="3886200"/>
            <a:ext cx="2834640" cy="548640"/>
          </a:xfrm>
          <a:prstGeom prst="roundRect">
            <a:avLst/>
          </a:prstGeom>
          <a:solidFill>
            <a:srgbClr val="1D8754"/>
          </a:solidFill>
          <a:ln>
            <a:solidFill>
              <a:srgbClr val="1D87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DynamoDB</a:t>
            </a:r>
          </a:p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RecommendationCache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080760" y="1920240"/>
            <a:ext cx="0" cy="228600"/>
          </a:xfrm>
          <a:prstGeom prst="line">
            <a:avLst/>
          </a:prstGeom>
          <a:ln w="19050">
            <a:solidFill>
              <a:srgbClr val="4A5A6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2468880" y="2743200"/>
            <a:ext cx="2560320" cy="274320"/>
          </a:xfrm>
          <a:prstGeom prst="line">
            <a:avLst/>
          </a:prstGeom>
          <a:ln w="19050">
            <a:solidFill>
              <a:srgbClr val="4A5A6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132320" y="2743200"/>
            <a:ext cx="2560320" cy="274320"/>
          </a:xfrm>
          <a:prstGeom prst="line">
            <a:avLst/>
          </a:prstGeom>
          <a:ln w="19050">
            <a:solidFill>
              <a:srgbClr val="4A5A6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1554480" y="3566160"/>
            <a:ext cx="91440" cy="320040"/>
          </a:xfrm>
          <a:prstGeom prst="line">
            <a:avLst/>
          </a:prstGeom>
          <a:ln w="19050">
            <a:solidFill>
              <a:srgbClr val="4A5A6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3017520" y="3566160"/>
            <a:ext cx="640080" cy="320040"/>
          </a:xfrm>
          <a:prstGeom prst="line">
            <a:avLst/>
          </a:prstGeom>
          <a:ln w="19050">
            <a:solidFill>
              <a:srgbClr val="4A5A6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875520" y="3566160"/>
            <a:ext cx="0" cy="320040"/>
          </a:xfrm>
          <a:prstGeom prst="line">
            <a:avLst/>
          </a:prstGeom>
          <a:ln w="19050">
            <a:solidFill>
              <a:srgbClr val="4A5A6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548640" y="4617720"/>
            <a:ext cx="11064240" cy="19050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9900"/>
                </a:solidFill>
                <a:latin typeface="Calibri"/>
              </a:defRPr>
            </a:pPr>
            <a:r>
              <a:t>NIGHTLY BATCH PATH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846320" y="5029200"/>
            <a:ext cx="2468880" cy="457200"/>
          </a:xfrm>
          <a:prstGeom prst="roundRect">
            <a:avLst/>
          </a:prstGeom>
          <a:solidFill>
            <a:srgbClr val="4A5A6A"/>
          </a:solidFill>
          <a:ln>
            <a:solidFill>
              <a:srgbClr val="4A5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EventBridge Scheduler</a:t>
            </a:r>
          </a:p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cron 03:00 UTC daily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80560" y="5623560"/>
            <a:ext cx="3200400" cy="548640"/>
          </a:xfrm>
          <a:prstGeom prst="roundRect">
            <a:avLst/>
          </a:prstGeom>
          <a:solidFill>
            <a:srgbClr val="FF9900"/>
          </a:solidFill>
          <a:ln>
            <a:solidFill>
              <a:srgbClr val="FF9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defRPr sz="1200" b="1">
                <a:solidFill>
                  <a:srgbClr val="232F3E"/>
                </a:solidFill>
                <a:latin typeface="Calibri"/>
              </a:defRPr>
            </a:pPr>
            <a:r>
              <a:t>Recompute Lambda</a:t>
            </a:r>
          </a:p>
          <a:p>
            <a:pPr algn="ctr">
              <a:defRPr sz="1100" b="0">
                <a:solidFill>
                  <a:srgbClr val="232F3E"/>
                </a:solidFill>
                <a:latin typeface="Calibri"/>
              </a:defRPr>
            </a:pPr>
            <a:r>
              <a:t>co-purchase + content-based scoring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" y="6263640"/>
            <a:ext cx="2468880" cy="457200"/>
          </a:xfrm>
          <a:prstGeom prst="roundRect">
            <a:avLst/>
          </a:prstGeom>
          <a:solidFill>
            <a:srgbClr val="1D8754"/>
          </a:solidFill>
          <a:ln>
            <a:solidFill>
              <a:srgbClr val="1D87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DynamoDB</a:t>
            </a:r>
          </a:p>
          <a:p>
            <a:pPr algn="ctr">
              <a:defRPr sz="900" b="0">
                <a:solidFill>
                  <a:srgbClr val="FFFFFF"/>
                </a:solidFill>
                <a:latin typeface="Calibri"/>
              </a:defRPr>
            </a:pPr>
            <a:r>
              <a:t>ProductCatalog (reads)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080760" y="5486400"/>
            <a:ext cx="0" cy="137160"/>
          </a:xfrm>
          <a:prstGeom prst="line">
            <a:avLst/>
          </a:prstGeom>
          <a:ln w="19050">
            <a:solidFill>
              <a:srgbClr val="4A5A6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 flipV="1">
            <a:off x="1600200" y="4434840"/>
            <a:ext cx="2880360" cy="1463040"/>
          </a:xfrm>
          <a:prstGeom prst="line">
            <a:avLst/>
          </a:prstGeom>
          <a:ln w="19050">
            <a:solidFill>
              <a:srgbClr val="4A5A6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>
            <a:off x="2377440" y="5989320"/>
            <a:ext cx="2103120" cy="502920"/>
          </a:xfrm>
          <a:prstGeom prst="line">
            <a:avLst/>
          </a:prstGeom>
          <a:ln w="19050">
            <a:solidFill>
              <a:srgbClr val="4A5A6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7680960" y="4434840"/>
            <a:ext cx="2194560" cy="1463040"/>
          </a:xfrm>
          <a:prstGeom prst="line">
            <a:avLst/>
          </a:prstGeom>
          <a:ln w="19050">
            <a:solidFill>
              <a:srgbClr val="4A5A6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32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46304"/>
            <a:ext cx="10789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Calibri"/>
              </a:defRPr>
            </a:pPr>
            <a:r>
              <a:t>Data Flow — Three Stages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1280160" cy="50800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333333"/>
                </a:solidFill>
                <a:latin typeface="Calibri"/>
              </a:defRPr>
            </a:pPr>
            <a:r>
              <a:t>•  1. Ingest — POST /events records a view / purchase / add_to_cart event</a:t>
            </a:r>
          </a:p>
          <a:p>
            <a:pPr lvl="1">
              <a:spcAft>
                <a:spcPts val="12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‣  Written to the UserEvents DynamoDB table for fast recent-event lookups</a:t>
            </a:r>
          </a:p>
          <a:p>
            <a:pPr lvl="1">
              <a:spcAft>
                <a:spcPts val="12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‣  Archived as raw JSON to S3 (durable, long-term source of truth for reprocessing/audit)</a:t>
            </a:r>
          </a:p>
          <a:p>
            <a:pPr>
              <a:spcAft>
                <a:spcPts val="1200"/>
              </a:spcAft>
              <a:defRPr sz="1900">
                <a:solidFill>
                  <a:srgbClr val="333333"/>
                </a:solidFill>
                <a:latin typeface="Calibri"/>
              </a:defRPr>
            </a:pPr>
            <a:r>
              <a:t>•  2. Recompute — nightly EventBridge-triggered batch job</a:t>
            </a:r>
          </a:p>
          <a:p>
            <a:pPr lvl="1">
              <a:spcAft>
                <a:spcPts val="12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‣  Builds a co-purchase matrix + content-based category affinity across all events</a:t>
            </a:r>
          </a:p>
          <a:p>
            <a:pPr lvl="1">
              <a:spcAft>
                <a:spcPts val="12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‣  Writes ranked top-N results per user to the RecommendationCache table</a:t>
            </a:r>
          </a:p>
          <a:p>
            <a:pPr>
              <a:spcAft>
                <a:spcPts val="1200"/>
              </a:spcAft>
              <a:defRPr sz="1900">
                <a:solidFill>
                  <a:srgbClr val="333333"/>
                </a:solidFill>
                <a:latin typeface="Calibri"/>
              </a:defRPr>
            </a:pPr>
            <a:r>
              <a:t>•  3. Recommend — GET /recommendations/{userId}</a:t>
            </a:r>
          </a:p>
          <a:p>
            <a:pPr lvl="1">
              <a:spcAft>
                <a:spcPts val="12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‣  Reads the precomputed cache — a single DynamoDB GetItem, no request-time computation</a:t>
            </a:r>
          </a:p>
          <a:p>
            <a:pPr lvl="1">
              <a:spcAft>
                <a:spcPts val="12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‣  Keeps p99 read latency low and decoupled from the batch scoring job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32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46304"/>
            <a:ext cx="10789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Calibri"/>
              </a:defRPr>
            </a:pPr>
            <a:r>
              <a:t>Recommendation Algorithm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1280160" cy="50800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333333"/>
                </a:solidFill>
                <a:latin typeface="Calibri"/>
              </a:defRPr>
            </a:pPr>
            <a:r>
              <a:t>•  Hybrid scoring, computed in lambda/recompute/scoring.py:</a:t>
            </a:r>
          </a:p>
          <a:p>
            <a:pPr lvl="1">
              <a:spcAft>
                <a:spcPts val="12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‣  Co-purchase signal — items frequently bought together with a user's purchases</a:t>
            </a:r>
          </a:p>
          <a:p>
            <a:pPr lvl="1">
              <a:spcAft>
                <a:spcPts val="12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‣  Content-based signal — category-affinity boost toward similar products</a:t>
            </a:r>
          </a:p>
          <a:p>
            <a:pPr>
              <a:spcAft>
                <a:spcPts val="1200"/>
              </a:spcAft>
              <a:defRPr sz="1900">
                <a:solidFill>
                  <a:srgbClr val="333333"/>
                </a:solidFill>
                <a:latin typeface="Calibri"/>
              </a:defRPr>
            </a:pPr>
            <a:r>
              <a:t>•  Already-purchased items are excluded from a user's own recommendations</a:t>
            </a:r>
          </a:p>
          <a:p>
            <a:pPr>
              <a:spcAft>
                <a:spcPts val="1200"/>
              </a:spcAft>
              <a:defRPr sz="1900">
                <a:solidFill>
                  <a:srgbClr val="333333"/>
                </a:solidFill>
                <a:latin typeface="Calibri"/>
              </a:defRPr>
            </a:pPr>
            <a:r>
              <a:t>•  Results ranked and truncated to a top-N list per user</a:t>
            </a:r>
          </a:p>
          <a:p>
            <a:pPr>
              <a:spcAft>
                <a:spcPts val="1200"/>
              </a:spcAft>
              <a:defRPr sz="1900">
                <a:solidFill>
                  <a:srgbClr val="333333"/>
                </a:solidFill>
                <a:latin typeface="Calibri"/>
              </a:defRPr>
            </a:pPr>
            <a:r>
              <a:t>•  Cold-start handling — users with no purchase history get an empty list with a clear hint, not an error</a:t>
            </a:r>
          </a:p>
          <a:p>
            <a:pPr>
              <a:spcAft>
                <a:spcPts val="1200"/>
              </a:spcAft>
              <a:defRPr sz="1900">
                <a:solidFill>
                  <a:srgbClr val="333333"/>
                </a:solidFill>
                <a:latin typeface="Calibri"/>
              </a:defRPr>
            </a:pPr>
            <a:r>
              <a:t>•  Pure functions, no AWS calls — fully unit-testable in isolation (see Testing)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32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46304"/>
            <a:ext cx="10789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Calibri"/>
              </a:defRPr>
            </a:pPr>
            <a:r>
              <a:t>Tech Stack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1280160" cy="50800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417320"/>
          <a:ext cx="10881359" cy="4892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552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11505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Layer</a:t>
                      </a:r>
                    </a:p>
                  </a:txBody>
                  <a:tcPr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Service / Tool</a:t>
                      </a:r>
                    </a:p>
                  </a:txBody>
                  <a:tcPr>
                    <a:solidFill>
                      <a:srgbClr val="232F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1505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API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Amazon API Gateway (HTTP API)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1505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Compute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AWS Lambda × 4 (Python 3.12): ingest, recompute, recommend, authorizer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1505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Storage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DynamoDB × 3 tables (on-demand) + S3 (versioned event archive)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1505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Scheduling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Amazon EventBridge Scheduler (nightly cron)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11505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Infrastructure as Code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Terraform (&gt;= 1.5.0), AWS + random + archive providers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11505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CI/CD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GitHub Actions (test → plan → apply)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11505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Testing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pytest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32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46304"/>
            <a:ext cx="10789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Calibri"/>
              </a:defRPr>
            </a:pPr>
            <a:r>
              <a:t>Infrastructure as Code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1280160" cy="50800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333333"/>
                </a:solidFill>
                <a:latin typeface="Calibri"/>
              </a:defRPr>
            </a:pPr>
            <a:r>
              <a:t>•  100% Terraform-managed — every resource defined under terraform/*.tf</a:t>
            </a:r>
          </a:p>
          <a:p>
            <a:pPr>
              <a:spcAft>
                <a:spcPts val="1200"/>
              </a:spcAft>
              <a:defRPr sz="1900">
                <a:solidFill>
                  <a:srgbClr val="333333"/>
                </a:solidFill>
                <a:latin typeface="Calibri"/>
              </a:defRPr>
            </a:pPr>
            <a:r>
              <a:t>•  AWS Academy Learner Lab constraint: no iam:CreateRole / CreatePolicy permission</a:t>
            </a:r>
          </a:p>
          <a:p>
            <a:pPr lvl="1">
              <a:spcAft>
                <a:spcPts val="12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‣  All Lambdas + the scheduler reuse a single pre-provisioned LabRole, passed in as a variable</a:t>
            </a:r>
          </a:p>
          <a:p>
            <a:pPr lvl="1">
              <a:spcAft>
                <a:spcPts val="12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‣  A production account would instead use per-function, least-privilege IAM roles</a:t>
            </a:r>
          </a:p>
          <a:p>
            <a:pPr>
              <a:spcAft>
                <a:spcPts val="1200"/>
              </a:spcAft>
              <a:defRPr sz="1900">
                <a:solidFill>
                  <a:srgbClr val="333333"/>
                </a:solidFill>
                <a:latin typeface="Calibri"/>
              </a:defRPr>
            </a:pPr>
            <a:r>
              <a:t>•  Modular layout: lambda.tf, dynamodb.tf, s3.tf, api_gateway.tf, eventbridge.tf, monitoring.tf</a:t>
            </a:r>
          </a:p>
          <a:p>
            <a:pPr>
              <a:spcAft>
                <a:spcPts val="1200"/>
              </a:spcAft>
              <a:defRPr sz="1900">
                <a:solidFill>
                  <a:srgbClr val="333333"/>
                </a:solidFill>
                <a:latin typeface="Calibri"/>
              </a:defRPr>
            </a:pPr>
            <a:r>
              <a:t>•  terraform.tfvars (account ID, API key) is gitignored; terraform.tfvars.example is committed for onboarding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32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46304"/>
            <a:ext cx="10789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Calibri"/>
              </a:defRPr>
            </a:pPr>
            <a:r>
              <a:t>CI/CD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1280160" cy="50800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333333"/>
                </a:solidFill>
                <a:latin typeface="Calibri"/>
              </a:defRPr>
            </a:pPr>
            <a:r>
              <a:t>•  GitHub Actions workflow (.github/workflows/deploy.yml) runs on every push and PR:</a:t>
            </a:r>
          </a:p>
          <a:p>
            <a:pPr lvl="1">
              <a:spcAft>
                <a:spcPts val="12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‣  test — pytest against the pure scoring logic, no AWS calls needed</a:t>
            </a:r>
          </a:p>
          <a:p>
            <a:pPr lvl="1">
              <a:spcAft>
                <a:spcPts val="12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‣  plan (on PRs) — terraform plan against the live Learner Lab account</a:t>
            </a:r>
          </a:p>
          <a:p>
            <a:pPr lvl="1">
              <a:spcAft>
                <a:spcPts val="12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‣  deploy (on merge to main) — terraform apply -auto-approve</a:t>
            </a:r>
          </a:p>
          <a:p>
            <a:pPr>
              <a:spcAft>
                <a:spcPts val="1200"/>
              </a:spcAft>
              <a:defRPr sz="1900">
                <a:solidFill>
                  <a:srgbClr val="333333"/>
                </a:solidFill>
                <a:latin typeface="Calibri"/>
              </a:defRPr>
            </a:pPr>
            <a:r>
              <a:t>•  Known lab constraint: Academy credentials are temporary and rotate every lab session</a:t>
            </a:r>
          </a:p>
          <a:p>
            <a:pPr lvl="1">
              <a:spcAft>
                <a:spcPts val="12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‣  GitHub Actions secrets must be refreshed manually before each CI run / demo</a:t>
            </a:r>
          </a:p>
          <a:p>
            <a:pPr lvl="1">
              <a:spcAft>
                <a:spcPts val="12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‣  A production account would use long-lived IAM roles via OIDC federation instead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32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46304"/>
            <a:ext cx="10789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Calibri"/>
              </a:defRPr>
            </a:pPr>
            <a:r>
              <a:t>Security — Defense in Depth (Implemented)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1280160" cy="50800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t>•  Modeled on AWS's serverless defense-in-depth architecture, scoped to what a Learner Lab account allows</a:t>
            </a:r>
          </a:p>
          <a:p>
            <a:pPr>
              <a:spcAft>
                <a:spcPts val="12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t>•  Entry-point auth — every route gated by a Lambda REQUEST authorizer validating a shared x-api-key header</a:t>
            </a:r>
          </a:p>
          <a:p>
            <a:pPr>
              <a:spcAft>
                <a:spcPts val="12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t>•  Input validation — userId / productId constrained to ^[A-Za-z0-9_-]{1,64}$</a:t>
            </a:r>
          </a:p>
          <a:p>
            <a:pPr lvl="1">
              <a:spcAft>
                <a:spcPts val="1200"/>
              </a:spcAft>
              <a:defRPr sz="1500">
                <a:solidFill>
                  <a:srgbClr val="666666"/>
                </a:solidFill>
                <a:latin typeface="Calibri"/>
              </a:defRPr>
            </a:pPr>
            <a:r>
              <a:t>‣  Rejects malformed, oversized, or path-traversal-shaped input before it reaches DynamoDB or S3 keys</a:t>
            </a:r>
          </a:p>
          <a:p>
            <a:pPr>
              <a:spcAft>
                <a:spcPts val="12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t>•  Data protection:</a:t>
            </a:r>
          </a:p>
          <a:p>
            <a:pPr lvl="1">
              <a:spcAft>
                <a:spcPts val="1200"/>
              </a:spcAft>
              <a:defRPr sz="1500">
                <a:solidFill>
                  <a:srgbClr val="666666"/>
                </a:solidFill>
                <a:latin typeface="Calibri"/>
              </a:defRPr>
            </a:pPr>
            <a:r>
              <a:t>‣  DynamoDB — point-in-time recovery + explicit encryption at rest on all 3 tables</a:t>
            </a:r>
          </a:p>
          <a:p>
            <a:pPr lvl="1">
              <a:spcAft>
                <a:spcPts val="1200"/>
              </a:spcAft>
              <a:defRPr sz="1500">
                <a:solidFill>
                  <a:srgbClr val="666666"/>
                </a:solidFill>
                <a:latin typeface="Calibri"/>
              </a:defRPr>
            </a:pPr>
            <a:r>
              <a:t>‣  S3 — SSE encryption, versioning, full public-access block, bucket policy denying non-TLS requests</a:t>
            </a:r>
          </a:p>
          <a:p>
            <a:pPr>
              <a:spcAft>
                <a:spcPts val="12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t>•  Continuous monitoring — CloudWatch alarms on Lambda errors &amp; API 5xx spikes, publishing to SNS email alerts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32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46304"/>
            <a:ext cx="10789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Calibri"/>
              </a:defRPr>
            </a:pPr>
            <a:r>
              <a:t>Security — Explicitly Out of Scope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1280160" cy="50800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417320"/>
          <a:ext cx="10881360" cy="434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4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06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20485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Layer (from the AWS blog)</a:t>
                      </a:r>
                    </a:p>
                  </a:txBody>
                  <a:tcPr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Why it was skipped</a:t>
                      </a:r>
                    </a:p>
                  </a:txBody>
                  <a:tcPr>
                    <a:solidFill>
                      <a:srgbClr val="232F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0485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AWS WAF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Cost / permission-boundary risk not justified at this project's scale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0485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Cognito user pools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No real end users — a shared API key fits a machine-to-machine demo API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0485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VPC isolation / NAT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No private resources to protect; NAT Gateway adds cost for no benefit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0485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Secrets Manager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Only secret is the API key, small enough for a Lambda env var; rotation needs IAM Academy blocks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0485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GuardDuty / CloudTrail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Academy's permission boundary blocks account-level security services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2049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Shield Advanced / Bedrock agents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Paid enterprise features, out of scope for a lab-account project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32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46304"/>
            <a:ext cx="10789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Calibri"/>
              </a:defRPr>
            </a:pPr>
            <a:r>
              <a:t>Testing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1280160" cy="50800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333333"/>
                </a:solidFill>
                <a:latin typeface="Calibri"/>
              </a:defRPr>
            </a:pPr>
            <a:r>
              <a:t>•  tests/test_scoring.py — 5 unit tests against the pure recommendation logic:</a:t>
            </a:r>
          </a:p>
          <a:p>
            <a:pPr lvl="1">
              <a:spcAft>
                <a:spcPts val="12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‣  Co-purchase signal recommends frequently-bought-together items</a:t>
            </a:r>
          </a:p>
          <a:p>
            <a:pPr lvl="1">
              <a:spcAft>
                <a:spcPts val="12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‣  Content-based signal recommends same-category items</a:t>
            </a:r>
          </a:p>
          <a:p>
            <a:pPr lvl="1">
              <a:spcAft>
                <a:spcPts val="12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‣  Already-purchased items are excluded from results</a:t>
            </a:r>
          </a:p>
          <a:p>
            <a:pPr lvl="1">
              <a:spcAft>
                <a:spcPts val="12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‣  Non-purchase events (views, cart adds) are ignored for scoring</a:t>
            </a:r>
          </a:p>
          <a:p>
            <a:pPr lvl="1">
              <a:spcAft>
                <a:spcPts val="12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‣  Top-N limit is respected</a:t>
            </a:r>
          </a:p>
          <a:p>
            <a:pPr>
              <a:spcAft>
                <a:spcPts val="1200"/>
              </a:spcAft>
              <a:defRPr sz="1900">
                <a:solidFill>
                  <a:srgbClr val="333333"/>
                </a:solidFill>
                <a:latin typeface="Calibri"/>
              </a:defRPr>
            </a:pPr>
            <a:r>
              <a:t>•  Runs automatically on every push and pull request via GitHub Actions</a:t>
            </a:r>
          </a:p>
          <a:p>
            <a:pPr>
              <a:spcAft>
                <a:spcPts val="1200"/>
              </a:spcAft>
              <a:defRPr sz="1900">
                <a:solidFill>
                  <a:srgbClr val="333333"/>
                </a:solidFill>
                <a:latin typeface="Calibri"/>
              </a:defRPr>
            </a:pPr>
            <a:r>
              <a:t>•  New security logic manually verified: authorizer against matching/mismatched/missing keys, ID regex against valid input, path traversal, oversized and empty strings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32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46304"/>
            <a:ext cx="10789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Calibri"/>
              </a:defRPr>
            </a:pPr>
            <a:r>
              <a:t>Cost &amp; AWS Academy Constraints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1280160" cy="50800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333333"/>
                </a:solidFill>
                <a:latin typeface="Calibri"/>
              </a:defRPr>
            </a:pPr>
            <a:r>
              <a:t>•  AWS Academy Learner Lab draws from a fixed lab budget — not billed to a personal card</a:t>
            </a:r>
          </a:p>
          <a:p>
            <a:pPr>
              <a:spcAft>
                <a:spcPts val="1200"/>
              </a:spcAft>
              <a:defRPr sz="1900">
                <a:solidFill>
                  <a:srgbClr val="333333"/>
                </a:solidFill>
                <a:latin typeface="Calibri"/>
              </a:defRPr>
            </a:pPr>
            <a:r>
              <a:t>•  Every resource is usage-based and near-zero at this project's traffic:</a:t>
            </a:r>
          </a:p>
          <a:p>
            <a:pPr lvl="1">
              <a:spcAft>
                <a:spcPts val="12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‣  Lambda, API Gateway, DynamoDB on-demand, S3 — all within AWS's free-tier-scale usage</a:t>
            </a:r>
          </a:p>
          <a:p>
            <a:pPr>
              <a:spcAft>
                <a:spcPts val="1200"/>
              </a:spcAft>
              <a:defRPr sz="1900">
                <a:solidFill>
                  <a:srgbClr val="333333"/>
                </a:solidFill>
                <a:latin typeface="Calibri"/>
              </a:defRPr>
            </a:pPr>
            <a:r>
              <a:t>•  Only fixed recurring cost added: 5 CloudWatch alarms (~$0.10/alarm/month)</a:t>
            </a:r>
          </a:p>
          <a:p>
            <a:pPr lvl="1">
              <a:spcAft>
                <a:spcPts val="12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‣  Comfortably within AWS's always-free 10-alarm allowance</a:t>
            </a:r>
          </a:p>
          <a:p>
            <a:pPr>
              <a:spcAft>
                <a:spcPts val="1200"/>
              </a:spcAft>
              <a:defRPr sz="1900">
                <a:solidFill>
                  <a:srgbClr val="333333"/>
                </a:solidFill>
                <a:latin typeface="Calibri"/>
              </a:defRPr>
            </a:pPr>
            <a:r>
              <a:t>•  No VPC/NAT Gateway, no KMS customer-managed keys, no WAF, no GuardDuty/CloudTrail</a:t>
            </a:r>
          </a:p>
          <a:p>
            <a:pPr lvl="1">
              <a:spcAft>
                <a:spcPts val="12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‣  The pricier defense-in-depth layers were deliberately left out — see previous slide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32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46304"/>
            <a:ext cx="10789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Calibri"/>
              </a:defRPr>
            </a:pPr>
            <a:r>
              <a:t>Trade-offs &amp; Production Roadmap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1280160" cy="50800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333333"/>
                </a:solidFill>
                <a:latin typeface="Calibri"/>
              </a:defRPr>
            </a:pPr>
            <a:r>
              <a:t>•  Why no SageMaker: Academy IAM policies blocked provisioning a SageMaker execution role</a:t>
            </a:r>
          </a:p>
          <a:p>
            <a:pPr lvl="1">
              <a:spcAft>
                <a:spcPts val="12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‣  Recommendation scoring implemented as a Lambda instead of a SageMaker Processing job</a:t>
            </a:r>
          </a:p>
          <a:p>
            <a:pPr>
              <a:spcAft>
                <a:spcPts val="1200"/>
              </a:spcAft>
              <a:defRPr sz="1900">
                <a:solidFill>
                  <a:srgbClr val="333333"/>
                </a:solidFill>
                <a:latin typeface="Calibri"/>
              </a:defRPr>
            </a:pPr>
            <a:r>
              <a:t>•  LabRole is broad-permission by lab necessity, not by design</a:t>
            </a:r>
          </a:p>
          <a:p>
            <a:pPr lvl="1">
              <a:spcAft>
                <a:spcPts val="12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‣  A production deployment would use per-function least-privilege IAM roles</a:t>
            </a:r>
          </a:p>
          <a:p>
            <a:pPr>
              <a:spcAft>
                <a:spcPts val="1200"/>
              </a:spcAft>
              <a:defRPr sz="1900">
                <a:solidFill>
                  <a:srgbClr val="333333"/>
                </a:solidFill>
                <a:latin typeface="Calibri"/>
              </a:defRPr>
            </a:pPr>
            <a:r>
              <a:t>•  Roadmap for a production version:</a:t>
            </a:r>
          </a:p>
          <a:p>
            <a:pPr lvl="1">
              <a:spcAft>
                <a:spcPts val="12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‣  AWS WAF + rate limiting at the edge</a:t>
            </a:r>
          </a:p>
          <a:p>
            <a:pPr lvl="1">
              <a:spcAft>
                <a:spcPts val="12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‣  Cognito user pools for real end-user identity</a:t>
            </a:r>
          </a:p>
          <a:p>
            <a:pPr lvl="1">
              <a:spcAft>
                <a:spcPts val="12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‣  Custom least-privilege IAM roles per Lambda, KMS customer-managed keys</a:t>
            </a:r>
          </a:p>
          <a:p>
            <a:pPr lvl="1">
              <a:spcAft>
                <a:spcPts val="12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‣  GuardDuty + CloudTrail for account-level threat detection and audit</a:t>
            </a:r>
          </a:p>
          <a:p>
            <a:pPr lvl="1">
              <a:spcAft>
                <a:spcPts val="12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‣  Bedrock-based embedding similarity for semantic content matching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32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46304"/>
            <a:ext cx="10789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Calibri"/>
              </a:defRPr>
            </a:pPr>
            <a:r>
              <a:t>Live Demo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1280160" cy="50800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333333"/>
                </a:solidFill>
                <a:latin typeface="Calibri"/>
              </a:defRPr>
            </a:pPr>
            <a:r>
              <a:t>•  Record a purchase event:</a:t>
            </a:r>
          </a:p>
          <a:p>
            <a:pPr lvl="1">
              <a:spcAft>
                <a:spcPts val="12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‣  curl -X POST https://&lt;api_endpoint&gt;/events \</a:t>
            </a:r>
          </a:p>
          <a:p>
            <a:pPr lvl="1">
              <a:spcAft>
                <a:spcPts val="12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‣    -H "Content-Type: application/json" -H "x-api-key: &lt;key&gt;" \</a:t>
            </a:r>
          </a:p>
          <a:p>
            <a:pPr lvl="1">
              <a:spcAft>
                <a:spcPts val="12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‣    -d '{"userId":"user6","productId":"p3","eventType":"purchase"}'</a:t>
            </a:r>
          </a:p>
          <a:p>
            <a:pPr>
              <a:spcAft>
                <a:spcPts val="1200"/>
              </a:spcAft>
              <a:defRPr sz="1900">
                <a:solidFill>
                  <a:srgbClr val="333333"/>
                </a:solidFill>
                <a:latin typeface="Calibri"/>
              </a:defRPr>
            </a:pPr>
            <a:r>
              <a:t>•  Fetch recommendations:</a:t>
            </a:r>
          </a:p>
          <a:p>
            <a:pPr lvl="1">
              <a:spcAft>
                <a:spcPts val="12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‣  curl https://&lt;api_endpoint&gt;/recommendations/user1 -H "x-api-key: &lt;key&gt;"</a:t>
            </a:r>
          </a:p>
          <a:p>
            <a:pPr>
              <a:spcAft>
                <a:spcPts val="1200"/>
              </a:spcAft>
              <a:defRPr sz="1900">
                <a:solidFill>
                  <a:srgbClr val="333333"/>
                </a:solidFill>
                <a:latin typeface="Calibri"/>
              </a:defRPr>
            </a:pPr>
            <a:r>
              <a:t>•  A request without x-api-key now returns 401 Unauthorized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32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65176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FFFFFF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3429000"/>
            <a:ext cx="2011680" cy="63500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365760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CCCCCC"/>
                </a:solidFill>
                <a:latin typeface="Calibri"/>
              </a:defRPr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186</TotalTime>
  <Words>1323</Words>
  <Application>Microsoft Office PowerPoint</Application>
  <PresentationFormat>Widescreen</PresentationFormat>
  <Paragraphs>147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Mahek Shah</cp:lastModifiedBy>
  <cp:revision>2</cp:revision>
  <dcterms:created xsi:type="dcterms:W3CDTF">2013-01-27T09:14:16Z</dcterms:created>
  <dcterms:modified xsi:type="dcterms:W3CDTF">2026-07-14T14:19:46Z</dcterms:modified>
  <cp:category/>
</cp:coreProperties>
</file>